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emf"/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表格 5"/>
          <p:cNvGraphicFramePr/>
          <p:nvPr/>
        </p:nvGraphicFramePr>
        <p:xfrm>
          <a:off x="1424940" y="609600"/>
          <a:ext cx="8987245" cy="17411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97874"/>
                <a:gridCol w="1497875"/>
                <a:gridCol w="1497874"/>
                <a:gridCol w="1497874"/>
                <a:gridCol w="1497874"/>
                <a:gridCol w="1497874"/>
              </a:tblGrid>
              <a:tr h="373380"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Date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 w="28575">
                      <a:solidFill>
                        <a:schemeClr val="tx1"/>
                      </a:solidFill>
                      <a:prstDash val="solid"/>
                    </a:lnL>
                    <a:lnT w="28575">
                      <a:solidFill>
                        <a:schemeClr val="tx1"/>
                      </a:solidFill>
                      <a:prstDash val="soli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Condition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T w="28575">
                      <a:solidFill>
                        <a:schemeClr val="tx1"/>
                      </a:solidFill>
                      <a:prstDash val="soli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Na-</a:t>
                      </a:r>
                      <a:r>
                        <a:rPr lang="en-US" altLang="zh-CN" sz="1400" b="1"/>
                        <a:t>containing OP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T w="28575">
                      <a:solidFill>
                        <a:schemeClr val="tx1"/>
                      </a:solidFill>
                      <a:prstDash val="soli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No Na OP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T w="28575">
                      <a:solidFill>
                        <a:schemeClr val="tx1"/>
                      </a:solidFill>
                      <a:prstDash val="soli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Total tested </a:t>
                      </a:r>
                      <a:r>
                        <a:rPr lang="en-US" altLang="zh-CN" sz="1400" b="1"/>
                        <a:t>points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T w="28575">
                      <a:solidFill>
                        <a:schemeClr val="tx1"/>
                      </a:solidFill>
                      <a:prstDash val="soli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Na-</a:t>
                      </a:r>
                      <a:r>
                        <a:rPr lang="en-US" altLang="zh-CN" sz="1400" b="1"/>
                        <a:t>containing ratio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30530"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2025/04/22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 w="28575">
                      <a:solidFill>
                        <a:schemeClr val="tx1"/>
                      </a:solidFill>
                      <a:prstDash val="soli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/>
                        <a:t>400°C</a:t>
                      </a:r>
                      <a:r>
                        <a:rPr lang="zh-CN" altLang="en-US" sz="1200"/>
                        <a:t>，</a:t>
                      </a:r>
                      <a:r>
                        <a:rPr lang="en-US" altLang="zh-CN" sz="1200"/>
                        <a:t>400 sccm O₂</a:t>
                      </a:r>
                      <a:r>
                        <a:rPr lang="zh-CN" altLang="en-US" sz="1200"/>
                        <a:t>，</a:t>
                      </a:r>
                      <a:r>
                        <a:rPr lang="en-US" altLang="zh-CN" sz="1200"/>
                        <a:t>0.75 h</a:t>
                      </a:r>
                      <a:endParaRPr lang="en-US" altLang="zh-CN" sz="1200"/>
                    </a:p>
                  </a:txBody>
                  <a:tcPr marL="0" marR="0" marT="0" marB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5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4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9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56.0%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R w="28575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41960"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2025/05/20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 w="28575">
                      <a:solidFill>
                        <a:schemeClr val="tx1"/>
                      </a:solidFill>
                      <a:prstDash val="soli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solidFill>
                            <a:srgbClr val="FF0000"/>
                          </a:solidFill>
                        </a:rPr>
                        <a:t>Unknown condition</a:t>
                      </a:r>
                      <a:endParaRPr lang="en-US" altLang="zh-CN" sz="12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18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0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18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100.0%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R w="28575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95300"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2025/05/28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 w="28575">
                      <a:solidFill>
                        <a:schemeClr val="tx1"/>
                      </a:solidFill>
                      <a:prstDash val="solid"/>
                    </a:lnL>
                    <a:lnB w="28575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/>
                        <a:t>390°C</a:t>
                      </a:r>
                      <a:r>
                        <a:rPr lang="zh-CN" altLang="en-US" sz="1200"/>
                        <a:t>，</a:t>
                      </a:r>
                      <a:r>
                        <a:rPr lang="en-US" altLang="zh-CN" sz="1200"/>
                        <a:t>100 sccm O₂ + 400 sccm Ar</a:t>
                      </a:r>
                      <a:r>
                        <a:rPr lang="zh-CN" altLang="en-US" sz="1200"/>
                        <a:t>，</a:t>
                      </a:r>
                      <a:r>
                        <a:rPr lang="en-US" altLang="zh-CN" sz="1200"/>
                        <a:t>1 h</a:t>
                      </a:r>
                      <a:endParaRPr lang="en-US" altLang="zh-CN" sz="1200"/>
                    </a:p>
                  </a:txBody>
                  <a:tcPr marL="0" marR="0" marT="0" marB="0" anchor="ctr" anchorCtr="0">
                    <a:lnB w="28575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11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B w="28575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5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B w="28575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16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B w="28575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68.8%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R w="28575">
                      <a:solidFill>
                        <a:schemeClr val="tx1"/>
                      </a:solidFill>
                      <a:prstDash val="solid"/>
                    </a:lnR>
                    <a:lnB w="28575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851910" y="207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Statistics of Oh Junseok's </a:t>
            </a:r>
            <a:r>
              <a:rPr lang="en-US" altLang="zh-CN" b="1"/>
              <a:t>EDX results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661670" y="4231640"/>
            <a:ext cx="2360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Stacked column chart</a:t>
            </a:r>
            <a:endParaRPr lang="en-US" altLang="zh-CN" b="1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2600" y="2499360"/>
            <a:ext cx="5831840" cy="41351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705" y="746760"/>
            <a:ext cx="3778885" cy="26822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920" y="746760"/>
            <a:ext cx="3778885" cy="26822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3810000"/>
            <a:ext cx="4060825" cy="288226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6" name="文本框 25"/>
          <p:cNvSpPr txBox="1"/>
          <p:nvPr/>
        </p:nvSpPr>
        <p:spPr>
          <a:xfrm>
            <a:off x="3851910" y="207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Histogram of Oh Junseok's </a:t>
            </a:r>
            <a:r>
              <a:rPr lang="en-US" altLang="zh-CN" b="1"/>
              <a:t>EDX results</a:t>
            </a:r>
            <a:endParaRPr lang="en-US" altLang="zh-CN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6645" y="661035"/>
            <a:ext cx="3879215" cy="275336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661035"/>
            <a:ext cx="3879215" cy="275336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175" y="3931920"/>
            <a:ext cx="3879215" cy="275272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010" y="3931920"/>
            <a:ext cx="3879850" cy="275399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6" name="文本框 25"/>
          <p:cNvSpPr txBox="1"/>
          <p:nvPr/>
        </p:nvSpPr>
        <p:spPr>
          <a:xfrm>
            <a:off x="4206240" y="207010"/>
            <a:ext cx="3218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Distribution of </a:t>
            </a:r>
            <a:r>
              <a:rPr lang="en-US" altLang="zh-CN" b="1"/>
              <a:t>my </a:t>
            </a:r>
            <a:r>
              <a:rPr lang="en-US" altLang="zh-CN" b="1"/>
              <a:t>EDX results</a:t>
            </a:r>
            <a:endParaRPr lang="en-US" altLang="zh-CN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WPS 演示</Application>
  <PresentationFormat>宽屏</PresentationFormat>
  <Paragraphs>56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SimSun</vt:lpstr>
      <vt:lpstr>Wingdings</vt:lpstr>
      <vt:lpstr>Calibri</vt:lpstr>
      <vt:lpstr>Microsoft YaHei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Lyon</dc:creator>
  <cp:lastModifiedBy>约定&amp;云之彼端</cp:lastModifiedBy>
  <cp:revision>32</cp:revision>
  <dcterms:created xsi:type="dcterms:W3CDTF">2023-08-09T12:44:00Z</dcterms:created>
  <dcterms:modified xsi:type="dcterms:W3CDTF">2026-07-09T08:11:56Z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ED43B7C80EA34E3D827FD24494E3F4A7_12</vt:lpwstr>
  </property>
</Properties>
</file>